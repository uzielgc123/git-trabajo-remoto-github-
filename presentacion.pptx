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 Semi-Bold" charset="1" panose="000007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 Medium" charset="1" panose="00000600000000000000"/>
      <p:regular r:id="rId22"/>
    </p:embeddedFont>
    <p:embeddedFont>
      <p:font typeface="Open Sauce Light" charset="1" panose="0000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https://www.google.com/search?q=push&amp;oq=que+es+el+trabajo+reomoto+en+github&amp;gs_lcrp=EgZjaHJvbWUyBggAEEUYOTIJCAEQIRgKGKAB0gEKMTA5MTdqMGoxNagCDLACAfEFZR7n0V-i2sg&amp;sourceid=chrome&amp;ie=UTF-8&amp;mstk=AUtExfABMTatnvj8OTF176OXuq6B48q-ofi-utOIpdGMMYOe_wNO7qyVFlhJ2K047UkvbHhH2Tn1XJn0AwVOyVCbW7vaI7rlmz1gBSOZ_xhLfeJhG42Aq1ccRc2cSKcHq36lKBfBIrQZ44Kk3cc0uO86xwRhuJcCaKRlNQ6yKMADRUr5eiNZP9YBz5yiuX1FEG3DNbmKMJbsxRVvjEsxWJzBruplPfwZ5aESxglD8-JBTpCwsVwMBCBZ7XvDOxrE9bPePh-ridm0A9ck6gqh6xP54C8FRBCxkFZXQzIeIlWvRJhDnQ&amp;csui=3&amp;ved=2ahUKEwjtudGb5aeRAxXtIkQIHSAgGi4QgK4QegQIARAB" TargetMode="External" Type="http://schemas.openxmlformats.org/officeDocument/2006/relationships/hyperlink"/><Relationship Id="rId4" Target="https://www.google.com/search?q=pull&amp;oq=que+es+el+trabajo+reomoto+en+github&amp;gs_lcrp=EgZjaHJvbWUyBggAEEUYOTIJCAEQIRgKGKAB0gEKMTA5MTdqMGoxNagCDLACAfEFZR7n0V-i2sg&amp;sourceid=chrome&amp;ie=UTF-8&amp;mstk=AUtExfABMTatnvj8OTF176OXuq6B48q-ofi-utOIpdGMMYOe_wNO7qyVFlhJ2K047UkvbHhH2Tn1XJn0AwVOyVCbW7vaI7rlmz1gBSOZ_xhLfeJhG42Aq1ccRc2cSKcHq36lKBfBIrQZ44Kk3cc0uO86xwRhuJcCaKRlNQ6yKMADRUr5eiNZP9YBz5yiuX1FEG3DNbmKMJbsxRVvjEsxWJzBruplPfwZ5aESxglD8-JBTpCwsVwMBCBZ7XvDOxrE9bPePh-ridm0A9ck6gqh6xP54C8FRBCxkFZXQzIeIlWvRJhDnQ&amp;csui=3&amp;ved=2ahUKEwjtudGb5aeRAxXtIkQIHSAgGi4QgK4QegQIARAC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81642" y="4371352"/>
            <a:ext cx="7324716" cy="145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TRABAJO REMOTO</a:t>
            </a:r>
          </a:p>
          <a:p>
            <a:pPr algn="ctr">
              <a:lnSpc>
                <a:spcPts val="5834"/>
              </a:lnSpc>
            </a:pPr>
            <a:r>
              <a:rPr lang="en-US" b="true" sz="4167" spc="114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(GITHUB)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200061"/>
            <a:ext cx="8317387" cy="5143500"/>
            <a:chOff x="0" y="0"/>
            <a:chExt cx="11089849" cy="6858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415" r="0" b="3415"/>
            <a:stretch>
              <a:fillRect/>
            </a:stretch>
          </p:blipFill>
          <p:spPr>
            <a:xfrm flipH="false" flipV="false">
              <a:off x="0" y="0"/>
              <a:ext cx="11089849" cy="6858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317387" y="-113711"/>
            <a:ext cx="10099642" cy="10627543"/>
            <a:chOff x="0" y="0"/>
            <a:chExt cx="2659988" cy="2799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59988" cy="2799024"/>
            </a:xfrm>
            <a:custGeom>
              <a:avLst/>
              <a:gdLst/>
              <a:ahLst/>
              <a:cxnLst/>
              <a:rect r="r" b="b" t="t" l="l"/>
              <a:pathLst>
                <a:path h="2799024" w="2659988">
                  <a:moveTo>
                    <a:pt x="0" y="0"/>
                  </a:moveTo>
                  <a:lnTo>
                    <a:pt x="2659988" y="0"/>
                  </a:lnTo>
                  <a:lnTo>
                    <a:pt x="2659988" y="2799024"/>
                  </a:lnTo>
                  <a:lnTo>
                    <a:pt x="0" y="2799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659988" cy="2827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789363"/>
            <a:ext cx="5351852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 spc="87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INTEGRANTES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28412" y="2811716"/>
            <a:ext cx="8266129" cy="330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096" indent="-412548" lvl="1">
              <a:lnSpc>
                <a:spcPts val="5350"/>
              </a:lnSpc>
              <a:buAutoNum type="arabicPeriod" startAt="1"/>
            </a:pPr>
            <a:r>
              <a:rPr lang="en-US" b="true" sz="3821" spc="1050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UZIEL ALFREDO </a:t>
            </a:r>
          </a:p>
          <a:p>
            <a:pPr algn="l" marL="825096" indent="-412548" lvl="1">
              <a:lnSpc>
                <a:spcPts val="5350"/>
              </a:lnSpc>
              <a:buAutoNum type="arabicPeriod" startAt="1"/>
            </a:pPr>
            <a:r>
              <a:rPr lang="en-US" b="true" sz="3821" spc="1050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LIZET ANAHÍ </a:t>
            </a:r>
          </a:p>
          <a:p>
            <a:pPr algn="l" marL="825096" indent="-412548" lvl="1">
              <a:lnSpc>
                <a:spcPts val="5350"/>
              </a:lnSpc>
              <a:buAutoNum type="arabicPeriod" startAt="1"/>
            </a:pPr>
            <a:r>
              <a:rPr lang="en-US" b="true" sz="3821" spc="1050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ROSARIO</a:t>
            </a:r>
          </a:p>
          <a:p>
            <a:pPr algn="l" marL="825096" indent="-412548" lvl="1">
              <a:lnSpc>
                <a:spcPts val="5350"/>
              </a:lnSpc>
              <a:buAutoNum type="arabicPeriod" startAt="1"/>
            </a:pPr>
            <a:r>
              <a:rPr lang="en-US" b="true" sz="3821" spc="1050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LILIA </a:t>
            </a:r>
          </a:p>
          <a:p>
            <a:pPr algn="l" marL="825096" indent="-412548" lvl="1">
              <a:lnSpc>
                <a:spcPts val="5350"/>
              </a:lnSpc>
              <a:buAutoNum type="arabicPeriod" startAt="1"/>
            </a:pPr>
            <a:r>
              <a:rPr lang="en-US" b="true" sz="3821" spc="1050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ADRIEL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50467" y="3813175"/>
            <a:ext cx="39310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687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¿QUÉ ES EL TRABAJO REMOTO?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63653" y="9017635"/>
            <a:ext cx="759564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 spc="385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PROYECTO FIN DE GRADO - 04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98152"/>
            <a:ext cx="7040519" cy="512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1"/>
              </a:lnSpc>
            </a:pPr>
            <a:r>
              <a:rPr lang="en-US" sz="3382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Es la plataforma que se usa para colaborar en proyectos de software desde cualquier lugar, sincronizando tu código local con un repositorio central en la nube (el repositorio remoto) a través de comandos de </a:t>
            </a:r>
            <a:r>
              <a:rPr lang="en-US" sz="3382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Git como </a:t>
            </a:r>
            <a:r>
              <a:rPr lang="en-US" sz="3382" u="sng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google.com/search?q=push&amp;oq=que+es+el+trabajo+reomoto+en+github&amp;gs_lcrp=EgZjaHJvbWUyBggAEEUYOTIJCAEQIRgKGKAB0gEKMTA5MTdqMGoxNagCDLACAfEFZR7n0V-i2sg&amp;sourceid=chrome&amp;ie=UTF-8&amp;mstk=AUtExfABMTatnvj8OTF176OXuq6B48q-ofi-utOIpdGMMYOe_wNO7qyVFlhJ2K047UkvbHhH2Tn1XJn0AwVOyVCbW7vaI7rlmz1gBSOZ_xhLfeJhG42Aq1ccRc2cSKcHq36lKBfBIrQZ44Kk3cc0uO86xwRhuJcCaKRlNQ6yKMADRUr5eiNZP9YBz5yiuX1FEG3DNbmKMJbsxRVvjEsxWJzBruplPfwZ5aESxglD8-JBTpCwsVwMBCBZ7XvDOxrE9bPePh-ridm0A9ck6gqh6xP54C8FRBCxkFZXQzIeIlWvRJhDnQ&amp;csui=3&amp;ved=2ahUKEwjtudGb5aeRAxXtIkQIHSAgGi4QgK4QegQIARAB"/>
              </a:rPr>
              <a:t>push</a:t>
            </a:r>
            <a:r>
              <a:rPr lang="en-US" sz="3382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382" u="sng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google.com/search?q=pull&amp;oq=que+es+el+trabajo+reomoto+en+github&amp;gs_lcrp=EgZjaHJvbWUyBggAEEUYOTIJCAEQIRgKGKAB0gEKMTA5MTdqMGoxNagCDLACAfEFZR7n0V-i2sg&amp;sourceid=chrome&amp;ie=UTF-8&amp;mstk=AUtExfABMTatnvj8OTF176OXuq6B48q-ofi-utOIpdGMMYOe_wNO7qyVFlhJ2K047UkvbHhH2Tn1XJn0AwVOyVCbW7vaI7rlmz1gBSOZ_xhLfeJhG42Aq1ccRc2cSKcHq36lKBfBIrQZ44Kk3cc0uO86xwRhuJcCaKRlNQ6yKMADRUr5eiNZP9YBz5yiuX1FEG3DNbmKMJbsxRVvjEsxWJzBruplPfwZ5aESxglD8-JBTpCwsVwMBCBZ7XvDOxrE9bPePh-ridm0A9ck6gqh6xP54C8FRBCxkFZXQzIeIlWvRJhDnQ&amp;csui=3&amp;ved=2ahUKEwjtudGb5aeRAxXtIkQIHSAgGi4QgK4QegQIARAC"/>
              </a:rPr>
              <a:t>pull</a:t>
            </a:r>
            <a:r>
              <a:rPr lang="en-US" sz="3382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, clone y remote add.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54205" t="0" r="16016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11757581"/>
            <a:chOff x="0" y="0"/>
            <a:chExt cx="2408296" cy="3096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3096647"/>
            </a:xfrm>
            <a:custGeom>
              <a:avLst/>
              <a:gdLst/>
              <a:ahLst/>
              <a:cxnLst/>
              <a:rect r="r" b="b" t="t" l="l"/>
              <a:pathLst>
                <a:path h="3096647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096647"/>
                  </a:lnTo>
                  <a:lnTo>
                    <a:pt x="0" y="3096647"/>
                  </a:lnTo>
                  <a:close/>
                </a:path>
              </a:pathLst>
            </a:custGeom>
            <a:solidFill>
              <a:srgbClr val="092852">
                <a:alpha val="6666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3134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66968" y="808413"/>
            <a:ext cx="45343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VENTAJAS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30337" y="2109739"/>
            <a:ext cx="4683327" cy="1713234"/>
            <a:chOff x="0" y="0"/>
            <a:chExt cx="6244435" cy="228431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244435" cy="2284312"/>
              <a:chOff x="0" y="0"/>
              <a:chExt cx="2303335" cy="8425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03336" cy="842596"/>
              </a:xfrm>
              <a:custGeom>
                <a:avLst/>
                <a:gdLst/>
                <a:ahLst/>
                <a:cxnLst/>
                <a:rect r="r" b="b" t="t" l="l"/>
                <a:pathLst>
                  <a:path h="842596" w="2303336">
                    <a:moveTo>
                      <a:pt x="2178875" y="842596"/>
                    </a:moveTo>
                    <a:lnTo>
                      <a:pt x="124460" y="842596"/>
                    </a:lnTo>
                    <a:cubicBezTo>
                      <a:pt x="55880" y="842596"/>
                      <a:pt x="0" y="786716"/>
                      <a:pt x="0" y="71813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718136"/>
                    </a:lnTo>
                    <a:cubicBezTo>
                      <a:pt x="2303336" y="786716"/>
                      <a:pt x="2247455" y="842596"/>
                      <a:pt x="2178876" y="842596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434532" y="715648"/>
              <a:ext cx="5375372" cy="758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b="true" sz="1700" spc="467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GUARDAR UNA COPIA EN LA NUBE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30337" y="4109922"/>
            <a:ext cx="4683327" cy="1713234"/>
            <a:chOff x="0" y="0"/>
            <a:chExt cx="6244435" cy="228431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244435" cy="2284312"/>
              <a:chOff x="0" y="0"/>
              <a:chExt cx="2303335" cy="8425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03336" cy="842596"/>
              </a:xfrm>
              <a:custGeom>
                <a:avLst/>
                <a:gdLst/>
                <a:ahLst/>
                <a:cxnLst/>
                <a:rect r="r" b="b" t="t" l="l"/>
                <a:pathLst>
                  <a:path h="842596" w="2303336">
                    <a:moveTo>
                      <a:pt x="2178875" y="842596"/>
                    </a:moveTo>
                    <a:lnTo>
                      <a:pt x="124460" y="842596"/>
                    </a:lnTo>
                    <a:cubicBezTo>
                      <a:pt x="55880" y="842596"/>
                      <a:pt x="0" y="786716"/>
                      <a:pt x="0" y="71813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718136"/>
                    </a:lnTo>
                    <a:cubicBezTo>
                      <a:pt x="2303336" y="786716"/>
                      <a:pt x="2247455" y="842596"/>
                      <a:pt x="2178876" y="842596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34532" y="715648"/>
              <a:ext cx="5375372" cy="758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b="true" sz="1700" spc="467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COLABORAR CON OTRAS PERSONAS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30337" y="6224230"/>
            <a:ext cx="4683327" cy="1826356"/>
            <a:chOff x="0" y="0"/>
            <a:chExt cx="6244435" cy="243514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244435" cy="2435141"/>
              <a:chOff x="0" y="0"/>
              <a:chExt cx="2303335" cy="97598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303336" cy="975983"/>
              </a:xfrm>
              <a:custGeom>
                <a:avLst/>
                <a:gdLst/>
                <a:ahLst/>
                <a:cxnLst/>
                <a:rect r="r" b="b" t="t" l="l"/>
                <a:pathLst>
                  <a:path h="975983" w="2303336">
                    <a:moveTo>
                      <a:pt x="2178875" y="975983"/>
                    </a:moveTo>
                    <a:lnTo>
                      <a:pt x="124460" y="975983"/>
                    </a:lnTo>
                    <a:cubicBezTo>
                      <a:pt x="55880" y="975983"/>
                      <a:pt x="0" y="920103"/>
                      <a:pt x="0" y="851523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178876" y="0"/>
                    </a:lnTo>
                    <a:cubicBezTo>
                      <a:pt x="2247455" y="0"/>
                      <a:pt x="2303336" y="55880"/>
                      <a:pt x="2303336" y="124460"/>
                    </a:cubicBezTo>
                    <a:lnTo>
                      <a:pt x="2303336" y="851523"/>
                    </a:lnTo>
                    <a:cubicBezTo>
                      <a:pt x="2303336" y="920103"/>
                      <a:pt x="2247455" y="975983"/>
                      <a:pt x="2178876" y="975983"/>
                    </a:cubicBezTo>
                    <a:close/>
                  </a:path>
                </a:pathLst>
              </a:custGeom>
              <a:solidFill>
                <a:srgbClr val="FFFFFF">
                  <a:alpha val="75686"/>
                </a:srgbClr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4532" y="715648"/>
              <a:ext cx="5375372" cy="1152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b="true" sz="1700" spc="467">
                  <a:solidFill>
                    <a:srgbClr val="092852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MANTENER SINCRONIZADO TU TRABAJO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63653" y="9017635"/>
            <a:ext cx="759564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 spc="385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PROYECTO FIN DE GRADO - 06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63653" y="2360978"/>
            <a:ext cx="8277857" cy="568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2968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1. Guardar una copia en la nube: </a:t>
            </a:r>
            <a:r>
              <a:rPr lang="en-US" sz="2968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Por si tu computadora falla, pierdes archivos o necesitas trabajar desde otro lugar.</a:t>
            </a:r>
          </a:p>
          <a:p>
            <a:pPr algn="l">
              <a:lnSpc>
                <a:spcPts val="4512"/>
              </a:lnSpc>
            </a:pPr>
            <a:r>
              <a:rPr lang="en-US" sz="2968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2. Colaborar con otras personas: Todos pueden acceder al mismo repositorio y enviar cambios.</a:t>
            </a:r>
          </a:p>
          <a:p>
            <a:pPr algn="l">
              <a:lnSpc>
                <a:spcPts val="4512"/>
              </a:lnSpc>
            </a:pPr>
            <a:r>
              <a:rPr lang="en-US" sz="2968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3. Mantener sincronizado tu trabajo: Puedes subir tus cambios y bajar los cambios de otros.</a:t>
            </a:r>
          </a:p>
          <a:p>
            <a:pPr algn="l">
              <a:lnSpc>
                <a:spcPts val="451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66968" y="808413"/>
            <a:ext cx="45343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68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DESVENTAJAS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67900" y="2148967"/>
            <a:ext cx="7591400" cy="588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4" indent="-334647" lvl="1">
              <a:lnSpc>
                <a:spcPts val="4712"/>
              </a:lnSpc>
              <a:buFont typeface="Arial"/>
              <a:buChar char="•"/>
            </a:pPr>
            <a:r>
              <a:rPr lang="en-US" sz="31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Conflictos de código: Puede generar errores si no se resuelve correctamente</a:t>
            </a:r>
          </a:p>
          <a:p>
            <a:pPr algn="l" marL="669294" indent="-334647" lvl="1">
              <a:lnSpc>
                <a:spcPts val="4712"/>
              </a:lnSpc>
              <a:buFont typeface="Arial"/>
              <a:buChar char="•"/>
            </a:pPr>
            <a:r>
              <a:rPr lang="en-US" sz="31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Git y GitHub pueden ser complicados para principiantes, especialmente: Entender flujos de trabajos colaborativos </a:t>
            </a:r>
          </a:p>
          <a:p>
            <a:pPr algn="l" marL="669294" indent="-334647" lvl="1">
              <a:lnSpc>
                <a:spcPts val="4712"/>
              </a:lnSpc>
              <a:buFont typeface="Arial"/>
              <a:buChar char="•"/>
            </a:pPr>
            <a:r>
              <a:rPr lang="en-US" sz="31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Riesgos de seguridad : Si no se guardan bien las claves SSH, así como permisos en repositorios.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2"/>
            <a:srcRect l="20500" t="0" r="20499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04571" y="0"/>
            <a:ext cx="12573000" cy="10870162"/>
          </a:xfrm>
          <a:custGeom>
            <a:avLst/>
            <a:gdLst/>
            <a:ahLst/>
            <a:cxnLst/>
            <a:rect r="r" b="b" t="t" l="l"/>
            <a:pathLst>
              <a:path h="10870162" w="12573000">
                <a:moveTo>
                  <a:pt x="0" y="0"/>
                </a:moveTo>
                <a:lnTo>
                  <a:pt x="12573000" y="0"/>
                </a:lnTo>
                <a:lnTo>
                  <a:pt x="12573000" y="10870162"/>
                </a:lnTo>
                <a:lnTo>
                  <a:pt x="0" y="1087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43" t="0" r="-1604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63817" y="229418"/>
            <a:ext cx="9843413" cy="142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b="true" sz="4099" spc="1127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¿CÓMO SE SOLUCIONAN LOS PROBLEMAS?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63792" y="1792154"/>
            <a:ext cx="9624183" cy="887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Para resolver un conflicto en Git cuando dos personas trabajan en el mismo archivo, </a:t>
            </a:r>
          </a:p>
          <a:p>
            <a:pPr algn="l" marL="777242" indent="-388621" lvl="1">
              <a:lnSpc>
                <a:spcPts val="5472"/>
              </a:lnSpc>
              <a:buAutoNum type="arabicPeriod" startAt="1"/>
            </a:pP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Necesitas </a:t>
            </a: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identificar los marcadores de conflicto, editar manualmente el archivo para decidir qué código conservar.</a:t>
            </a:r>
          </a:p>
          <a:p>
            <a:pPr algn="l" marL="777242" indent="-388621" lvl="1">
              <a:lnSpc>
                <a:spcPts val="5472"/>
              </a:lnSpc>
              <a:buAutoNum type="arabicPeriod" startAt="1"/>
            </a:pP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Usar git add para marcarlo como resuelto. </a:t>
            </a:r>
          </a:p>
          <a:p>
            <a:pPr algn="l" marL="777242" indent="-388621" lvl="1">
              <a:lnSpc>
                <a:spcPts val="5472"/>
              </a:lnSpc>
              <a:buAutoNum type="arabicPeriod" startAt="1"/>
            </a:pP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 L</a:t>
            </a: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uego git commit para finalizar la fusión. </a:t>
            </a:r>
          </a:p>
          <a:p>
            <a:pPr algn="l" marL="777242" indent="-388621" lvl="1">
              <a:lnSpc>
                <a:spcPts val="5472"/>
              </a:lnSpc>
              <a:buAutoNum type="arabicPeriod" startAt="1"/>
            </a:pP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Por ultimo subir los cambios con un git push origin main.</a:t>
            </a:r>
          </a:p>
          <a:p>
            <a:pPr algn="l">
              <a:lnSpc>
                <a:spcPts val="5472"/>
              </a:lnSpc>
            </a:pPr>
            <a:r>
              <a:rPr lang="en-US" sz="3600">
                <a:solidFill>
                  <a:srgbClr val="092852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68218" y="4485338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142014"/>
            <a:ext cx="7981680" cy="7486824"/>
            <a:chOff x="0" y="0"/>
            <a:chExt cx="2102171" cy="1971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2171" cy="1971838"/>
            </a:xfrm>
            <a:custGeom>
              <a:avLst/>
              <a:gdLst/>
              <a:ahLst/>
              <a:cxnLst/>
              <a:rect r="r" b="b" t="t" l="l"/>
              <a:pathLst>
                <a:path h="1971838" w="2102171">
                  <a:moveTo>
                    <a:pt x="49468" y="0"/>
                  </a:moveTo>
                  <a:lnTo>
                    <a:pt x="2052703" y="0"/>
                  </a:lnTo>
                  <a:cubicBezTo>
                    <a:pt x="2080023" y="0"/>
                    <a:pt x="2102171" y="22148"/>
                    <a:pt x="2102171" y="49468"/>
                  </a:cubicBezTo>
                  <a:lnTo>
                    <a:pt x="2102171" y="1922370"/>
                  </a:lnTo>
                  <a:cubicBezTo>
                    <a:pt x="2102171" y="1935490"/>
                    <a:pt x="2096959" y="1948073"/>
                    <a:pt x="2087682" y="1957350"/>
                  </a:cubicBezTo>
                  <a:cubicBezTo>
                    <a:pt x="2078405" y="1966627"/>
                    <a:pt x="2065823" y="1971838"/>
                    <a:pt x="2052703" y="1971838"/>
                  </a:cubicBezTo>
                  <a:lnTo>
                    <a:pt x="49468" y="1971838"/>
                  </a:lnTo>
                  <a:cubicBezTo>
                    <a:pt x="36348" y="1971838"/>
                    <a:pt x="23766" y="1966627"/>
                    <a:pt x="14489" y="1957350"/>
                  </a:cubicBezTo>
                  <a:cubicBezTo>
                    <a:pt x="5212" y="1948073"/>
                    <a:pt x="0" y="1935490"/>
                    <a:pt x="0" y="1922370"/>
                  </a:cubicBezTo>
                  <a:lnTo>
                    <a:pt x="0" y="49468"/>
                  </a:lnTo>
                  <a:cubicBezTo>
                    <a:pt x="0" y="36348"/>
                    <a:pt x="5212" y="23766"/>
                    <a:pt x="14489" y="14489"/>
                  </a:cubicBezTo>
                  <a:cubicBezTo>
                    <a:pt x="23766" y="5212"/>
                    <a:pt x="36348" y="0"/>
                    <a:pt x="49468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2171" cy="2019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REPOSITORIO LOCAL 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spc="68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Es la copia completa del proyecto que vive en tu máquina. No es sólo los archivos visibles: incluye el directorio oculto .git que contiene todo el historial, la configuración, referencias y los objetos que forman el historial del repositorio</a:t>
              </a: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.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50409" y="2142014"/>
            <a:ext cx="8115300" cy="7486824"/>
            <a:chOff x="0" y="0"/>
            <a:chExt cx="2137363" cy="1971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363" cy="1971838"/>
            </a:xfrm>
            <a:custGeom>
              <a:avLst/>
              <a:gdLst/>
              <a:ahLst/>
              <a:cxnLst/>
              <a:rect r="r" b="b" t="t" l="l"/>
              <a:pathLst>
                <a:path h="1971838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1923185"/>
                  </a:lnTo>
                  <a:cubicBezTo>
                    <a:pt x="2137363" y="1950055"/>
                    <a:pt x="2115580" y="1971838"/>
                    <a:pt x="2088710" y="1971838"/>
                  </a:cubicBezTo>
                  <a:lnTo>
                    <a:pt x="48654" y="1971838"/>
                  </a:lnTo>
                  <a:cubicBezTo>
                    <a:pt x="21783" y="1971838"/>
                    <a:pt x="0" y="1950055"/>
                    <a:pt x="0" y="1923185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37363" cy="2019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REPOSITORIO REMOTO (NUBE) 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E</a:t>
              </a:r>
              <a:r>
                <a:rPr lang="en-US" sz="2499" spc="68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 cualquier repositorio que no está en tu máquina (usualmente en un servidor como GitHub, GitLab, Bitbucket u otro servidor Git). Puede ser un repo "normal" o un repo bare (sin área de trabajo) que está pensado para compartir y servir como punto central</a:t>
              </a:r>
              <a:r>
                <a:rPr lang="en-US" b="true" sz="2499" spc="68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.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941854" y="7200900"/>
            <a:ext cx="2155371" cy="2057400"/>
          </a:xfrm>
          <a:custGeom>
            <a:avLst/>
            <a:gdLst/>
            <a:ahLst/>
            <a:cxnLst/>
            <a:rect r="r" b="b" t="t" l="l"/>
            <a:pathLst>
              <a:path h="2057400" w="2155371">
                <a:moveTo>
                  <a:pt x="0" y="0"/>
                </a:moveTo>
                <a:lnTo>
                  <a:pt x="2155372" y="0"/>
                </a:lnTo>
                <a:lnTo>
                  <a:pt x="215537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35849" y="7219950"/>
            <a:ext cx="2144420" cy="2156181"/>
          </a:xfrm>
          <a:custGeom>
            <a:avLst/>
            <a:gdLst/>
            <a:ahLst/>
            <a:cxnLst/>
            <a:rect r="r" b="b" t="t" l="l"/>
            <a:pathLst>
              <a:path h="2156181" w="2144420">
                <a:moveTo>
                  <a:pt x="0" y="0"/>
                </a:moveTo>
                <a:lnTo>
                  <a:pt x="2144420" y="0"/>
                </a:lnTo>
                <a:lnTo>
                  <a:pt x="2144420" y="2156181"/>
                </a:lnTo>
                <a:lnTo>
                  <a:pt x="0" y="2156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81271" y="586344"/>
            <a:ext cx="14325458" cy="61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2"/>
              </a:lnSpc>
            </a:pPr>
            <a:r>
              <a:rPr lang="en-US" b="true" sz="3623" spc="996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REPOSITORIOS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0176" y="2619164"/>
            <a:ext cx="12177751" cy="7410931"/>
            <a:chOff x="0" y="0"/>
            <a:chExt cx="876491" cy="533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6491" cy="533400"/>
            </a:xfrm>
            <a:custGeom>
              <a:avLst/>
              <a:gdLst/>
              <a:ahLst/>
              <a:cxnLst/>
              <a:rect r="r" b="b" t="t" l="l"/>
              <a:pathLst>
                <a:path h="533400" w="876491">
                  <a:moveTo>
                    <a:pt x="497652" y="0"/>
                  </a:moveTo>
                  <a:cubicBezTo>
                    <a:pt x="507266" y="0"/>
                    <a:pt x="516938" y="0"/>
                    <a:pt x="526533" y="0"/>
                  </a:cubicBezTo>
                  <a:cubicBezTo>
                    <a:pt x="603030" y="8909"/>
                    <a:pt x="650837" y="38564"/>
                    <a:pt x="672612" y="87090"/>
                  </a:cubicBezTo>
                  <a:cubicBezTo>
                    <a:pt x="800146" y="80618"/>
                    <a:pt x="891680" y="172373"/>
                    <a:pt x="836361" y="262426"/>
                  </a:cubicBezTo>
                  <a:cubicBezTo>
                    <a:pt x="855152" y="281349"/>
                    <a:pt x="870829" y="302517"/>
                    <a:pt x="876491" y="330926"/>
                  </a:cubicBezTo>
                  <a:cubicBezTo>
                    <a:pt x="876491" y="339065"/>
                    <a:pt x="876491" y="347184"/>
                    <a:pt x="876491" y="355321"/>
                  </a:cubicBezTo>
                  <a:cubicBezTo>
                    <a:pt x="859618" y="427627"/>
                    <a:pt x="787016" y="476486"/>
                    <a:pt x="667823" y="463333"/>
                  </a:cubicBezTo>
                  <a:cubicBezTo>
                    <a:pt x="637155" y="500459"/>
                    <a:pt x="582586" y="537638"/>
                    <a:pt x="497670" y="533008"/>
                  </a:cubicBezTo>
                  <a:cubicBezTo>
                    <a:pt x="453778" y="530570"/>
                    <a:pt x="423244" y="516453"/>
                    <a:pt x="396509" y="499302"/>
                  </a:cubicBezTo>
                  <a:cubicBezTo>
                    <a:pt x="368351" y="513559"/>
                    <a:pt x="337854" y="524747"/>
                    <a:pt x="293791" y="524871"/>
                  </a:cubicBezTo>
                  <a:cubicBezTo>
                    <a:pt x="191851" y="525082"/>
                    <a:pt x="123658" y="470155"/>
                    <a:pt x="122004" y="394815"/>
                  </a:cubicBezTo>
                  <a:cubicBezTo>
                    <a:pt x="56471" y="377190"/>
                    <a:pt x="12085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3339" y="207816"/>
                    <a:pt x="55311" y="172776"/>
                    <a:pt x="125197" y="157922"/>
                  </a:cubicBezTo>
                  <a:cubicBezTo>
                    <a:pt x="120997" y="63818"/>
                    <a:pt x="260787" y="5016"/>
                    <a:pt x="375628" y="46474"/>
                  </a:cubicBezTo>
                  <a:cubicBezTo>
                    <a:pt x="402971" y="25973"/>
                    <a:pt x="441655" y="3613"/>
                    <a:pt x="4976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1086" y="60325"/>
              <a:ext cx="79432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602067" y="3883181"/>
            <a:ext cx="7473968" cy="476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1"/>
              </a:lnSpc>
            </a:pPr>
            <a:r>
              <a:rPr lang="en-US" sz="3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Son </a:t>
            </a:r>
            <a:r>
              <a:rPr lang="en-US" b="true" sz="3599">
                <a:solidFill>
                  <a:srgbClr val="00000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instrucciones que se usan para interactuar con un sistema de control de versiones</a:t>
            </a:r>
            <a:r>
              <a:rPr lang="en-US" sz="3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permitiendo realizar operaciones como rastrear cambios, guardar instantáneas del proyecto y gestionar ramas.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21547" y="1465857"/>
            <a:ext cx="8635008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1154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COMANDOS EN EL GIT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9941" y="7110929"/>
            <a:ext cx="7773289" cy="2147371"/>
          </a:xfrm>
          <a:custGeom>
            <a:avLst/>
            <a:gdLst/>
            <a:ahLst/>
            <a:cxnLst/>
            <a:rect r="r" b="b" t="t" l="l"/>
            <a:pathLst>
              <a:path h="2147371" w="7773289">
                <a:moveTo>
                  <a:pt x="0" y="0"/>
                </a:moveTo>
                <a:lnTo>
                  <a:pt x="7773290" y="0"/>
                </a:lnTo>
                <a:lnTo>
                  <a:pt x="7773290" y="2147371"/>
                </a:lnTo>
                <a:lnTo>
                  <a:pt x="0" y="2147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788933" y="4502150"/>
            <a:ext cx="5854134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962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GIT PUSH ORIGIN MAIN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9602" y="1986874"/>
            <a:ext cx="7473968" cy="4360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3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 comando “</a:t>
            </a:r>
            <a:r>
              <a:rPr lang="en-US" b="true" sz="3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 push origin main</a:t>
            </a:r>
            <a:r>
              <a:rPr lang="en-US" sz="3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”  nos sirve para poder para subir los cambios al repositorio remoto de GitHub y es el primer paso para migrar la información.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037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73147" y="5809887"/>
            <a:ext cx="7847428" cy="2037702"/>
          </a:xfrm>
          <a:custGeom>
            <a:avLst/>
            <a:gdLst/>
            <a:ahLst/>
            <a:cxnLst/>
            <a:rect r="r" b="b" t="t" l="l"/>
            <a:pathLst>
              <a:path h="2037702" w="7847428">
                <a:moveTo>
                  <a:pt x="0" y="0"/>
                </a:moveTo>
                <a:lnTo>
                  <a:pt x="7847427" y="0"/>
                </a:lnTo>
                <a:lnTo>
                  <a:pt x="7847427" y="2037702"/>
                </a:lnTo>
                <a:lnTo>
                  <a:pt x="0" y="2037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3" t="-2799" r="-133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5969" y="4496943"/>
            <a:ext cx="5854134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96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 PULL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73147" y="1181100"/>
            <a:ext cx="7473968" cy="4360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3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Este comando se utiliza para obtener los cambios realizados en el repositorio y al mismo tiempo fusionar tus cambios hechos)</a:t>
            </a:r>
          </a:p>
          <a:p>
            <a:pPr algn="l">
              <a:lnSpc>
                <a:spcPts val="577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68218" y="4485338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2083" y="2942288"/>
            <a:ext cx="5328769" cy="6686550"/>
            <a:chOff x="0" y="0"/>
            <a:chExt cx="1403462" cy="1761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3462" cy="1761067"/>
            </a:xfrm>
            <a:custGeom>
              <a:avLst/>
              <a:gdLst/>
              <a:ahLst/>
              <a:cxnLst/>
              <a:rect r="r" b="b" t="t" l="l"/>
              <a:pathLst>
                <a:path h="1761067" w="1403462">
                  <a:moveTo>
                    <a:pt x="74096" y="0"/>
                  </a:moveTo>
                  <a:lnTo>
                    <a:pt x="1329366" y="0"/>
                  </a:lnTo>
                  <a:cubicBezTo>
                    <a:pt x="1370288" y="0"/>
                    <a:pt x="1403462" y="33174"/>
                    <a:pt x="1403462" y="74096"/>
                  </a:cubicBezTo>
                  <a:lnTo>
                    <a:pt x="1403462" y="1686971"/>
                  </a:lnTo>
                  <a:cubicBezTo>
                    <a:pt x="1403462" y="1727893"/>
                    <a:pt x="1370288" y="1761067"/>
                    <a:pt x="1329366" y="1761067"/>
                  </a:cubicBezTo>
                  <a:lnTo>
                    <a:pt x="74096" y="1761067"/>
                  </a:lnTo>
                  <a:cubicBezTo>
                    <a:pt x="54444" y="1761067"/>
                    <a:pt x="35598" y="1753260"/>
                    <a:pt x="21702" y="1739365"/>
                  </a:cubicBezTo>
                  <a:cubicBezTo>
                    <a:pt x="7806" y="1725469"/>
                    <a:pt x="0" y="1706623"/>
                    <a:pt x="0" y="1686971"/>
                  </a:cubicBezTo>
                  <a:lnTo>
                    <a:pt x="0" y="74096"/>
                  </a:lnTo>
                  <a:cubicBezTo>
                    <a:pt x="0" y="33174"/>
                    <a:pt x="33174" y="0"/>
                    <a:pt x="74096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03462" cy="18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GIT PUSH 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</a:t>
              </a:r>
              <a:r>
                <a:rPr lang="en-US" sz="2499" spc="68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SIRVE PARA SUBIR LOS CAMBIOS AL REPOSITORIO REMOTO DE GITHUB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79616" y="2942288"/>
            <a:ext cx="5328769" cy="6686550"/>
            <a:chOff x="0" y="0"/>
            <a:chExt cx="1403462" cy="17610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3462" cy="1761067"/>
            </a:xfrm>
            <a:custGeom>
              <a:avLst/>
              <a:gdLst/>
              <a:ahLst/>
              <a:cxnLst/>
              <a:rect r="r" b="b" t="t" l="l"/>
              <a:pathLst>
                <a:path h="1761067" w="1403462">
                  <a:moveTo>
                    <a:pt x="74096" y="0"/>
                  </a:moveTo>
                  <a:lnTo>
                    <a:pt x="1329366" y="0"/>
                  </a:lnTo>
                  <a:cubicBezTo>
                    <a:pt x="1370288" y="0"/>
                    <a:pt x="1403462" y="33174"/>
                    <a:pt x="1403462" y="74096"/>
                  </a:cubicBezTo>
                  <a:lnTo>
                    <a:pt x="1403462" y="1686971"/>
                  </a:lnTo>
                  <a:cubicBezTo>
                    <a:pt x="1403462" y="1727893"/>
                    <a:pt x="1370288" y="1761067"/>
                    <a:pt x="1329366" y="1761067"/>
                  </a:cubicBezTo>
                  <a:lnTo>
                    <a:pt x="74096" y="1761067"/>
                  </a:lnTo>
                  <a:cubicBezTo>
                    <a:pt x="54444" y="1761067"/>
                    <a:pt x="35598" y="1753260"/>
                    <a:pt x="21702" y="1739365"/>
                  </a:cubicBezTo>
                  <a:cubicBezTo>
                    <a:pt x="7806" y="1725469"/>
                    <a:pt x="0" y="1706623"/>
                    <a:pt x="0" y="1686971"/>
                  </a:cubicBezTo>
                  <a:lnTo>
                    <a:pt x="0" y="74096"/>
                  </a:lnTo>
                  <a:cubicBezTo>
                    <a:pt x="0" y="33174"/>
                    <a:pt x="33174" y="0"/>
                    <a:pt x="74096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03462" cy="18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GIT REMOTE ADD </a:t>
              </a:r>
              <a:r>
                <a:rPr lang="en-US" sz="2499" spc="68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CONECTA TU REPOSITORIO LOCAL CON UN REPOSITORIO REMOTO EN GITHUB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65584" y="2942288"/>
            <a:ext cx="5328769" cy="6686550"/>
            <a:chOff x="0" y="0"/>
            <a:chExt cx="1403462" cy="17610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3462" cy="1761067"/>
            </a:xfrm>
            <a:custGeom>
              <a:avLst/>
              <a:gdLst/>
              <a:ahLst/>
              <a:cxnLst/>
              <a:rect r="r" b="b" t="t" l="l"/>
              <a:pathLst>
                <a:path h="1761067" w="1403462">
                  <a:moveTo>
                    <a:pt x="74096" y="0"/>
                  </a:moveTo>
                  <a:lnTo>
                    <a:pt x="1329366" y="0"/>
                  </a:lnTo>
                  <a:cubicBezTo>
                    <a:pt x="1370288" y="0"/>
                    <a:pt x="1403462" y="33174"/>
                    <a:pt x="1403462" y="74096"/>
                  </a:cubicBezTo>
                  <a:lnTo>
                    <a:pt x="1403462" y="1686971"/>
                  </a:lnTo>
                  <a:cubicBezTo>
                    <a:pt x="1403462" y="1727893"/>
                    <a:pt x="1370288" y="1761067"/>
                    <a:pt x="1329366" y="1761067"/>
                  </a:cubicBezTo>
                  <a:lnTo>
                    <a:pt x="74096" y="1761067"/>
                  </a:lnTo>
                  <a:cubicBezTo>
                    <a:pt x="54444" y="1761067"/>
                    <a:pt x="35598" y="1753260"/>
                    <a:pt x="21702" y="1739365"/>
                  </a:cubicBezTo>
                  <a:cubicBezTo>
                    <a:pt x="7806" y="1725469"/>
                    <a:pt x="0" y="1706623"/>
                    <a:pt x="0" y="1686971"/>
                  </a:cubicBezTo>
                  <a:lnTo>
                    <a:pt x="0" y="74096"/>
                  </a:lnTo>
                  <a:cubicBezTo>
                    <a:pt x="0" y="33174"/>
                    <a:pt x="33174" y="0"/>
                    <a:pt x="74096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03462" cy="18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GIT CLONE</a:t>
              </a: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spc="687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CLONA UN REPOSITORIO DE GITHUB Y CREA UNA COPIA EN TU COMPUTADORA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000000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1805477" y="6156318"/>
            <a:ext cx="3101982" cy="3101982"/>
          </a:xfrm>
          <a:custGeom>
            <a:avLst/>
            <a:gdLst/>
            <a:ahLst/>
            <a:cxnLst/>
            <a:rect r="r" b="b" t="t" l="l"/>
            <a:pathLst>
              <a:path h="3101982" w="3101982">
                <a:moveTo>
                  <a:pt x="0" y="0"/>
                </a:moveTo>
                <a:lnTo>
                  <a:pt x="3101981" y="0"/>
                </a:lnTo>
                <a:lnTo>
                  <a:pt x="3101981" y="3101982"/>
                </a:lnTo>
                <a:lnTo>
                  <a:pt x="0" y="3101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03750" y="6156318"/>
            <a:ext cx="4078937" cy="2922002"/>
          </a:xfrm>
          <a:custGeom>
            <a:avLst/>
            <a:gdLst/>
            <a:ahLst/>
            <a:cxnLst/>
            <a:rect r="r" b="b" t="t" l="l"/>
            <a:pathLst>
              <a:path h="2922002" w="4078937">
                <a:moveTo>
                  <a:pt x="0" y="0"/>
                </a:moveTo>
                <a:lnTo>
                  <a:pt x="4078937" y="0"/>
                </a:lnTo>
                <a:lnTo>
                  <a:pt x="4078937" y="2922003"/>
                </a:lnTo>
                <a:lnTo>
                  <a:pt x="0" y="2922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91166" y="6542738"/>
            <a:ext cx="2715562" cy="2715562"/>
          </a:xfrm>
          <a:custGeom>
            <a:avLst/>
            <a:gdLst/>
            <a:ahLst/>
            <a:cxnLst/>
            <a:rect r="r" b="b" t="t" l="l"/>
            <a:pathLst>
              <a:path h="2715562" w="2715562">
                <a:moveTo>
                  <a:pt x="0" y="0"/>
                </a:moveTo>
                <a:lnTo>
                  <a:pt x="2715563" y="0"/>
                </a:lnTo>
                <a:lnTo>
                  <a:pt x="2715563" y="2715562"/>
                </a:lnTo>
                <a:lnTo>
                  <a:pt x="0" y="2715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81271" y="595869"/>
            <a:ext cx="14325458" cy="152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b="true" sz="2923" spc="80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Esos son los comandos pricipales del GitHub para poder subir la información, pero existen otro que tambien son fundamentales como: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400" y="2096661"/>
            <a:ext cx="6341587" cy="1543050"/>
            <a:chOff x="0" y="0"/>
            <a:chExt cx="16702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0212" cy="406400"/>
            </a:xfrm>
            <a:custGeom>
              <a:avLst/>
              <a:gdLst/>
              <a:ahLst/>
              <a:cxnLst/>
              <a:rect r="r" b="b" t="t" l="l"/>
              <a:pathLst>
                <a:path h="406400" w="1670212">
                  <a:moveTo>
                    <a:pt x="1467012" y="0"/>
                  </a:moveTo>
                  <a:cubicBezTo>
                    <a:pt x="1579236" y="0"/>
                    <a:pt x="1670212" y="90976"/>
                    <a:pt x="1670212" y="203200"/>
                  </a:cubicBezTo>
                  <a:cubicBezTo>
                    <a:pt x="1670212" y="315424"/>
                    <a:pt x="1579236" y="406400"/>
                    <a:pt x="14670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70212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TRABAJAS EN TU REPOSITORIO LOCAL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50028" y="2096661"/>
            <a:ext cx="6052210" cy="1543050"/>
            <a:chOff x="0" y="0"/>
            <a:chExt cx="1593998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3998" cy="406400"/>
            </a:xfrm>
            <a:custGeom>
              <a:avLst/>
              <a:gdLst/>
              <a:ahLst/>
              <a:cxnLst/>
              <a:rect r="r" b="b" t="t" l="l"/>
              <a:pathLst>
                <a:path h="406400" w="1593998">
                  <a:moveTo>
                    <a:pt x="1390798" y="0"/>
                  </a:moveTo>
                  <a:cubicBezTo>
                    <a:pt x="1503022" y="0"/>
                    <a:pt x="1593998" y="90976"/>
                    <a:pt x="1593998" y="203200"/>
                  </a:cubicBezTo>
                  <a:cubicBezTo>
                    <a:pt x="1593998" y="315424"/>
                    <a:pt x="1503022" y="406400"/>
                    <a:pt x="139079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9399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GUARDAS CAMBIOS CON COMMIT.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43619" y="4603371"/>
            <a:ext cx="6558619" cy="1543050"/>
            <a:chOff x="0" y="0"/>
            <a:chExt cx="1727373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7373" cy="406400"/>
            </a:xfrm>
            <a:custGeom>
              <a:avLst/>
              <a:gdLst/>
              <a:ahLst/>
              <a:cxnLst/>
              <a:rect r="r" b="b" t="t" l="l"/>
              <a:pathLst>
                <a:path h="406400" w="1727373">
                  <a:moveTo>
                    <a:pt x="1524173" y="0"/>
                  </a:moveTo>
                  <a:cubicBezTo>
                    <a:pt x="1636397" y="0"/>
                    <a:pt x="1727373" y="90976"/>
                    <a:pt x="1727373" y="203200"/>
                  </a:cubicBezTo>
                  <a:cubicBezTo>
                    <a:pt x="1727373" y="315424"/>
                    <a:pt x="1636397" y="406400"/>
                    <a:pt x="152417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2737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ENVÍAS LOS CAMBIOS AL REMOTO CON PUSH.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4603371"/>
            <a:ext cx="5184081" cy="1543050"/>
            <a:chOff x="0" y="0"/>
            <a:chExt cx="136535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5355" cy="406400"/>
            </a:xfrm>
            <a:custGeom>
              <a:avLst/>
              <a:gdLst/>
              <a:ahLst/>
              <a:cxnLst/>
              <a:rect r="r" b="b" t="t" l="l"/>
              <a:pathLst>
                <a:path h="406400" w="1365355">
                  <a:moveTo>
                    <a:pt x="1162155" y="0"/>
                  </a:moveTo>
                  <a:cubicBezTo>
                    <a:pt x="1274379" y="0"/>
                    <a:pt x="1365355" y="90976"/>
                    <a:pt x="1365355" y="203200"/>
                  </a:cubicBezTo>
                  <a:cubicBezTo>
                    <a:pt x="1365355" y="315424"/>
                    <a:pt x="1274379" y="406400"/>
                    <a:pt x="11621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65355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DESCARGAS ACTUALIZACIONES CON PULL.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53892" y="7342664"/>
            <a:ext cx="6390108" cy="1543050"/>
            <a:chOff x="0" y="0"/>
            <a:chExt cx="1682992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2991" cy="406400"/>
            </a:xfrm>
            <a:custGeom>
              <a:avLst/>
              <a:gdLst/>
              <a:ahLst/>
              <a:cxnLst/>
              <a:rect r="r" b="b" t="t" l="l"/>
              <a:pathLst>
                <a:path h="406400" w="1682991">
                  <a:moveTo>
                    <a:pt x="1479792" y="0"/>
                  </a:moveTo>
                  <a:cubicBezTo>
                    <a:pt x="1592016" y="0"/>
                    <a:pt x="1682991" y="90976"/>
                    <a:pt x="1682991" y="203200"/>
                  </a:cubicBezTo>
                  <a:cubicBezTo>
                    <a:pt x="1682991" y="315424"/>
                    <a:pt x="1592016" y="406400"/>
                    <a:pt x="14797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928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82992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687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GIT SINCRONIZA TODO ENTRE LOCAL Y GITHUB.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5716486">
            <a:off x="16064241" y="3974009"/>
            <a:ext cx="2390117" cy="951701"/>
          </a:xfrm>
          <a:custGeom>
            <a:avLst/>
            <a:gdLst/>
            <a:ahLst/>
            <a:cxnLst/>
            <a:rect r="r" b="b" t="t" l="l"/>
            <a:pathLst>
              <a:path h="951701" w="2390117">
                <a:moveTo>
                  <a:pt x="0" y="0"/>
                </a:moveTo>
                <a:lnTo>
                  <a:pt x="2390118" y="0"/>
                </a:lnTo>
                <a:lnTo>
                  <a:pt x="2390118" y="951701"/>
                </a:lnTo>
                <a:lnTo>
                  <a:pt x="0" y="951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43180" y="2430671"/>
            <a:ext cx="2892655" cy="875028"/>
          </a:xfrm>
          <a:custGeom>
            <a:avLst/>
            <a:gdLst/>
            <a:ahLst/>
            <a:cxnLst/>
            <a:rect r="r" b="b" t="t" l="l"/>
            <a:pathLst>
              <a:path h="875028" w="2892655">
                <a:moveTo>
                  <a:pt x="0" y="0"/>
                </a:moveTo>
                <a:lnTo>
                  <a:pt x="2892655" y="0"/>
                </a:lnTo>
                <a:lnTo>
                  <a:pt x="2892655" y="875029"/>
                </a:lnTo>
                <a:lnTo>
                  <a:pt x="0" y="875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0734046">
            <a:off x="6828987" y="4808575"/>
            <a:ext cx="2892655" cy="875028"/>
          </a:xfrm>
          <a:custGeom>
            <a:avLst/>
            <a:gdLst/>
            <a:ahLst/>
            <a:cxnLst/>
            <a:rect r="r" b="b" t="t" l="l"/>
            <a:pathLst>
              <a:path h="875028" w="2892655">
                <a:moveTo>
                  <a:pt x="0" y="0"/>
                </a:moveTo>
                <a:lnTo>
                  <a:pt x="2892655" y="0"/>
                </a:lnTo>
                <a:lnTo>
                  <a:pt x="2892655" y="875028"/>
                </a:lnTo>
                <a:lnTo>
                  <a:pt x="0" y="875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203998">
            <a:off x="581478" y="5783565"/>
            <a:ext cx="894444" cy="2673610"/>
          </a:xfrm>
          <a:custGeom>
            <a:avLst/>
            <a:gdLst/>
            <a:ahLst/>
            <a:cxnLst/>
            <a:rect r="r" b="b" t="t" l="l"/>
            <a:pathLst>
              <a:path h="2673610" w="894444">
                <a:moveTo>
                  <a:pt x="0" y="0"/>
                </a:moveTo>
                <a:lnTo>
                  <a:pt x="894444" y="0"/>
                </a:lnTo>
                <a:lnTo>
                  <a:pt x="894444" y="2673610"/>
                </a:lnTo>
                <a:lnTo>
                  <a:pt x="0" y="2673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422503" y="942975"/>
            <a:ext cx="7442994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1154">
                <a:solidFill>
                  <a:srgbClr val="0928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FLUJO DE TRABAJO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7786" r="0" b="7786"/>
            <a:stretch>
              <a:fillRect/>
            </a:stretch>
          </p:blipFill>
          <p:spPr>
            <a:xfrm flipH="false" flipV="false"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74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75125" y="4864174"/>
            <a:ext cx="5137750" cy="50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</a:pPr>
            <a:r>
              <a:rPr lang="en-US" b="true" sz="2923" spc="803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MUCHAS GRACIAS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0373" y="8277816"/>
            <a:ext cx="6687255" cy="75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RICARDO SALINAS</a:t>
            </a:r>
          </a:p>
          <a:p>
            <a:pPr algn="ctr">
              <a:lnSpc>
                <a:spcPts val="3086"/>
              </a:lnSpc>
            </a:pPr>
            <a:r>
              <a:rPr lang="en-US" sz="2204" spc="60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CURSO 2022-2023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DAG6sRBlqrQ</dc:identifier>
  <dcterms:modified xsi:type="dcterms:W3CDTF">2011-08-01T06:04:30Z</dcterms:modified>
  <cp:revision>1</cp:revision>
  <dc:title>Presentación proyecto fin de grado profesional en color azul</dc:title>
</cp:coreProperties>
</file>